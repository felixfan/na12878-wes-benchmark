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8778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6035040" cy="658368"/>
          </a:xfrm>
          <a:prstGeom prst="roundRect">
            <a:avLst>
              <a:gd name="adj" fmla="val 6000"/>
            </a:avLst>
          </a:prstGeom>
          <a:solidFill>
            <a:srgbClr val="ECE7F6"/>
          </a:solidFill>
          <a:ln w="15875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4A148C"/>
                </a:solidFill>
                <a:latin typeface="Arial"/>
              </a:rPr>
              <a:t>NA12878 (HG001) genomic DNA - single aliquot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A148C"/>
                </a:solidFill>
                <a:latin typeface="Arial"/>
              </a:rPr>
              <a:t>Agilent SureSelect V6 capture  ·  PE150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1344168" y="932688"/>
            <a:ext cx="2084832" cy="256032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11480" y="1188720"/>
            <a:ext cx="186537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4C72B0"/>
                </a:solidFill>
                <a:latin typeface="Arial"/>
              </a:rPr>
              <a:t>Illumina NovaSeq 6000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4C72B0"/>
                </a:solidFill>
                <a:latin typeface="Arial"/>
              </a:rPr>
              <a:t>mean on-target 627x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44168" y="1828800"/>
            <a:ext cx="2084832" cy="292608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29000" y="932688"/>
            <a:ext cx="0" cy="256032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96312" y="1188720"/>
            <a:ext cx="186537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D8452"/>
                </a:solidFill>
                <a:latin typeface="Arial"/>
              </a:rPr>
              <a:t>BGI DNBSEQ-T7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DD8452"/>
                </a:solidFill>
                <a:latin typeface="Arial"/>
              </a:rPr>
              <a:t>mean on-target 742x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1828800"/>
            <a:ext cx="0" cy="292608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9000" y="932688"/>
            <a:ext cx="2084831" cy="256032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81144" y="1188720"/>
            <a:ext cx="1865376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55A868"/>
                </a:solidFill>
                <a:latin typeface="Arial"/>
              </a:rPr>
              <a:t>GeneMind SURFSeq 5000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A868"/>
                </a:solidFill>
                <a:latin typeface="Arial"/>
              </a:rPr>
              <a:t>mean on-target 687x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429000" y="1828800"/>
            <a:ext cx="2084831" cy="292608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2121408"/>
            <a:ext cx="6035040" cy="7315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5875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B5E20"/>
                </a:solidFill>
                <a:latin typeface="Arial"/>
              </a:rPr>
              <a:t>Depth titration - seqtk downsampling to an on-target-X grid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B5E20"/>
                </a:solidFill>
                <a:latin typeface="Arial"/>
              </a:rPr>
              <a:t>5 · 8 · 10 · 12 · 15 · 20 · 25 · 30 · 40 · 50 · 60 · 75 · 100 · 150 · 200 · 300 · 400x  and full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1B5E20"/>
                </a:solidFill>
                <a:latin typeface="Arial"/>
              </a:rPr>
              <a:t>three fixed seeds (42 / 43 / 44) per sub-full depth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852928"/>
            <a:ext cx="0" cy="310896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3163824"/>
            <a:ext cx="186537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4C72B0"/>
                </a:solidFill>
                <a:latin typeface="Arial"/>
              </a:rPr>
              <a:t>Align + mark duplicates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BWA-MEM  (CPU)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Parabricks fq2bam  (GPU)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96312" y="3163824"/>
            <a:ext cx="186537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C62828"/>
                </a:solidFill>
                <a:latin typeface="Arial"/>
              </a:rPr>
              <a:t>Variant calling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GATK4 HaplotypeCaller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DeepVariant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CPU and GPU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1144" y="3163824"/>
            <a:ext cx="1865376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0838F"/>
                </a:solidFill>
                <a:latin typeface="Arial"/>
              </a:rPr>
              <a:t>Reference build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GRCh38  (primary)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GRCh37 / b37  (legacy)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4370832"/>
            <a:ext cx="1307592" cy="475488"/>
          </a:xfrm>
          <a:prstGeom prst="roundRect">
            <a:avLst>
              <a:gd name="adj" fmla="val 6000"/>
            </a:avLst>
          </a:prstGeom>
          <a:solidFill>
            <a:srgbClr val="37474F"/>
          </a:solidFill>
          <a:ln w="1587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450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benchmark runs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4224528"/>
            <a:ext cx="0" cy="896112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12064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587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E65100"/>
                </a:solidFill>
                <a:latin typeface="Arial"/>
              </a:rPr>
              <a:t>Benchmark - hap.py (vcfeval engine) vs GIAB HG001 v4.2.1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E65100"/>
                </a:solidFill>
                <a:latin typeface="Arial"/>
              </a:rPr>
              <a:t>restricted to the V6 Covered target  ∩  GIAB high-confidence regions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5833872"/>
            <a:ext cx="0" cy="310896"/>
          </a:xfrm>
          <a:prstGeom prst="line">
            <a:avLst/>
          </a:prstGeom>
          <a:ln w="15875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6144768"/>
            <a:ext cx="5760720" cy="786384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5875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11111"/>
                </a:solidFill>
                <a:latin typeface="Arial"/>
              </a:rPr>
              <a:t>Precision  ·  Recall  ·  F1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333333"/>
                </a:solidFill>
                <a:latin typeface="Arial"/>
              </a:rPr>
              <a:t>for SNV / INDEL and het / hom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55555"/>
                </a:solidFill>
                <a:latin typeface="Arial"/>
              </a:rPr>
              <a:t>GATK-family INDELs hard-filtered (best practice); SNVs left unfiltered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